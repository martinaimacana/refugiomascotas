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el problema y el propósito del sistema. Indicar que el trabajo corresponde al diseño, no a un programa funcional.</a:t>
            </a:r>
          </a:p>
          <a:p>
            <a:r>
              <a:t>Imágenes documentales de carácter ilustrativo generadas con IA; no corresponden a un refugio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Citar el dato histórico municipal como estimación publicada en 2024, no como valor actual. Explicar información dispersa y retornos.</a:t>
            </a:r>
          </a:p>
          <a:p>
            <a:r>
              <a:t>Imágenes documentales de carácter ilustrativo generadas con IA; no corresponden a un refugio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secuencia: ingreso, dictamen, solicitud, evaluación, decisión humana, adopción y seguimientos a los tres, seis y nueve meses.</a:t>
            </a:r>
          </a:p>
          <a:p>
            <a:r>
              <a:t>Imágenes documentales de carácter ilustrativo generadas con IA; no corresponden a un refugio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Identificar cinco tipos de actores y explicar quién puede cambiar salud, conducta o decisiones.</a:t>
            </a:r>
          </a:p>
          <a:p>
            <a:r>
              <a:t>Imágenes documentales de carácter ilustrativo generadas con IA; no corresponden a un refugio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seis módulos: propósito, relaciones y ubicación del núcleo algorítmico en M4.</a:t>
            </a:r>
          </a:p>
          <a:p>
            <a:r>
              <a:t>Imágenes documentales de carácter ilustrativo generadas con IA; no corresponden a un refugio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Fórmula académica: 50 + siete ajustes, limitado a 0–100. Ejemplo de ranking ficticio; ningún algoritmo aprueba de forma automática.</a:t>
            </a:r>
          </a:p>
          <a:p>
            <a:r>
              <a:t>Imágenes documentales de carácter ilustrativo generadas con IA; no corresponden a un refugio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clases Perro, Solicitud, Evaluación, Seguimiento y relaciones con multiplicidades. Mencionar servicios algorítmicos.</a:t>
            </a:r>
          </a:p>
          <a:p>
            <a:r>
              <a:t>Imágenes documentales de carácter ilustrativo generadas con IA; no corresponden a un refugio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herencia de Usuario y la trazabilidad de los responsables de las operaciones.</a:t>
            </a:r>
          </a:p>
          <a:p>
            <a:r>
              <a:t>Imágenes documentales de carácter ilustrativo generadas con IA; no corresponden a un refugio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Comparar dos soluciones reales: recorrer y ordenar listas frente a índices hash, montículos y árbol ordenado.</a:t>
            </a:r>
          </a:p>
          <a:p>
            <a:r>
              <a:t>Imágenes documentales de carácter ilustrativo generadas con IA; no corresponden a un refugio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Comparar búsqueda, ranking, seguimiento y colas; aclarar que son complejidades teóricas, no medidas.</a:t>
            </a:r>
          </a:p>
          <a:p>
            <a:r>
              <a:t>Imágenes documentales de carácter ilustrativo generadas con IA; no corresponden a un refugio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Decisión B = 4,45/5, A = 3,00/5; B mejora consultas con mayor costo de memoria y sincronización.</a:t>
            </a:r>
          </a:p>
          <a:p>
            <a:r>
              <a:t>Imágenes documentales de carácter ilustrativo generadas con IA; no corresponden a un refugio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división por cuatro integrantes y riesgos de integración, empates y pérdida de información.</a:t>
            </a:r>
          </a:p>
          <a:p>
            <a:r>
              <a:t>Imágenes documentales de carácter ilustrativo generadas con IA; no corresponden a un refugio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beneficio: decisiones trazables y responsables. Recordar que el prototipo no sustituye evaluaciones profesionales.</a:t>
            </a:r>
          </a:p>
          <a:p>
            <a:r>
              <a:t>Imágenes documentales de carácter ilustrativo generadas con IA; no corresponden a un refugio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5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opcion_57_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0"/>
            <a:ext cx="528523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931152" cy="6858000"/>
          </a:xfrm>
          <a:prstGeom prst="rect">
            <a:avLst/>
          </a:prstGeom>
          <a:solidFill>
            <a:srgbClr val="15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640080"/>
            <a:ext cx="100584" cy="438912"/>
          </a:xfrm>
          <a:prstGeom prst="rect">
            <a:avLst/>
          </a:prstGeom>
          <a:solidFill>
            <a:srgbClr val="3AA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704088"/>
            <a:ext cx="5669280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050" b="1">
                <a:solidFill>
                  <a:srgbClr val="8ED8D0"/>
                </a:solidFill>
                <a:latin typeface="Inter"/>
              </a:defRPr>
            </a:pPr>
            <a:r>
              <a:t>UNIVERSIDAD DE LAS AMÉRICAS  ·  PROGRAMACIÓN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6126480" cy="192024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5100" b="1">
                <a:solidFill>
                  <a:srgbClr val="FFFFFF"/>
                </a:solidFill>
                <a:latin typeface="Inter"/>
              </a:defRPr>
            </a:pPr>
            <a:r>
              <a:t>Refugio</a:t>
            </a:r>
          </a:p>
          <a:p>
            <a:pPr>
              <a:lnSpc>
                <a:spcPct val="107000"/>
              </a:lnSpc>
              <a:spcAft>
                <a:spcPts val="0"/>
              </a:spcAft>
              <a:defRPr sz="5100" b="1">
                <a:solidFill>
                  <a:srgbClr val="FFFFFF"/>
                </a:solidFill>
                <a:latin typeface="Inter"/>
              </a:defRPr>
            </a:pPr>
            <a:r>
              <a:t>Mascotas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58768"/>
            <a:ext cx="5897880" cy="8686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2100" b="0">
                <a:solidFill>
                  <a:srgbClr val="DBE9E5"/>
                </a:solidFill>
                <a:latin typeface="Inter"/>
              </a:defRPr>
            </a:pPr>
            <a:r>
              <a:t>Sistema de gestión y asignación</a:t>
            </a:r>
          </a:p>
          <a:p>
            <a:pPr>
              <a:lnSpc>
                <a:spcPct val="107000"/>
              </a:lnSpc>
              <a:spcAft>
                <a:spcPts val="0"/>
              </a:spcAft>
              <a:defRPr sz="2100" b="0">
                <a:solidFill>
                  <a:srgbClr val="DBE9E5"/>
                </a:solidFill>
                <a:latin typeface="Inter"/>
              </a:defRPr>
            </a:pPr>
            <a:r>
              <a:t>de adopciones en Java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5084064"/>
            <a:ext cx="3182112" cy="320040"/>
          </a:xfrm>
          <a:prstGeom prst="roundRect">
            <a:avLst>
              <a:gd name="adj" fmla="val 12000"/>
            </a:avLst>
          </a:prstGeom>
          <a:solidFill>
            <a:srgbClr val="2F5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5125212"/>
            <a:ext cx="3035808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Inter"/>
              </a:defRPr>
            </a:pPr>
            <a:r>
              <a:t>PROGRESO 1 · ANÁLISIS Y DISEÑO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016752"/>
            <a:ext cx="5852160" cy="4114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00" b="0">
                <a:solidFill>
                  <a:srgbClr val="ACC4C7"/>
                </a:solidFill>
                <a:latin typeface="Inter"/>
              </a:defRPr>
            </a:pPr>
            <a:r>
              <a:t>Quito, Ecuador  ·  2026  ·  Equipo de 4 integrantes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6949440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000" b="1">
                <a:solidFill>
                  <a:srgbClr val="18887F"/>
                </a:solidFill>
                <a:latin typeface="Inter"/>
              </a:defRPr>
            </a:pPr>
            <a:r>
              <a:t>REFUGIOMASCOTAS · PROGRESO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0292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2800" b="1">
                <a:solidFill>
                  <a:srgbClr val="152733"/>
                </a:solidFill>
                <a:latin typeface="Inter"/>
              </a:defRPr>
            </a:pPr>
            <a:r>
              <a:t>El problema que queremos resolver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2918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280" b="0">
                <a:solidFill>
                  <a:srgbClr val="60717A"/>
                </a:solidFill>
                <a:latin typeface="Inter"/>
              </a:defRPr>
            </a:pPr>
            <a:r>
              <a:t>Información dispersa, decisiones difíciles de comparar y seguimientos que pueden olvidarse</a:t>
            </a:r>
          </a:p>
        </p:txBody>
      </p:sp>
      <p:pic>
        <p:nvPicPr>
          <p:cNvPr id="6" name="Picture 5" descr="refugio_40_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01952"/>
            <a:ext cx="3712463" cy="39776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26280" y="1920240"/>
            <a:ext cx="2286000" cy="1307592"/>
          </a:xfrm>
          <a:prstGeom prst="roundRect">
            <a:avLst>
              <a:gd name="adj" fmla="val 12000"/>
            </a:avLst>
          </a:prstGeom>
          <a:solidFill>
            <a:srgbClr val="E7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7448" y="2112264"/>
            <a:ext cx="2011680" cy="57607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3600" b="1">
                <a:solidFill>
                  <a:srgbClr val="18887F"/>
                </a:solidFill>
                <a:latin typeface="Inter"/>
              </a:defRPr>
            </a:pPr>
            <a:r>
              <a:t>≈97.000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448" y="2724912"/>
            <a:ext cx="1938528" cy="40233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200" b="0">
                <a:solidFill>
                  <a:srgbClr val="60717A"/>
                </a:solidFill>
                <a:latin typeface="Inter"/>
              </a:defRPr>
            </a:pPr>
            <a:r>
              <a:t>perros callejeros estimados en Quito¹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14032" y="1975104"/>
            <a:ext cx="4507992" cy="1115568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68312" y="1920240"/>
            <a:ext cx="4507992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51192" y="2139696"/>
            <a:ext cx="384048" cy="384048"/>
          </a:xfrm>
          <a:prstGeom prst="ellipse">
            <a:avLst/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2194560"/>
            <a:ext cx="347472" cy="27432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9832" y="2057400"/>
            <a:ext cx="3611880" cy="32004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700" b="1">
                <a:solidFill>
                  <a:srgbClr val="152733"/>
                </a:solidFill>
                <a:latin typeface="Inter"/>
              </a:defRPr>
            </a:pPr>
            <a:r>
              <a:t>Fichas fragmentadas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9832" y="2404872"/>
            <a:ext cx="3611880" cy="48463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40" b="0">
                <a:solidFill>
                  <a:srgbClr val="60717A"/>
                </a:solidFill>
                <a:latin typeface="Inter"/>
              </a:defRPr>
            </a:pPr>
            <a:r>
              <a:t>Datos en papel, mensajes y hojas separadas.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14032" y="3282696"/>
            <a:ext cx="4507992" cy="1115568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68312" y="3227832"/>
            <a:ext cx="4507992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51192" y="3447288"/>
            <a:ext cx="384048" cy="384048"/>
          </a:xfrm>
          <a:prstGeom prst="ellipse">
            <a:avLst/>
          </a:prstGeom>
          <a:solidFill>
            <a:srgbClr val="E39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3502152"/>
            <a:ext cx="347472" cy="27432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9832" y="3364992"/>
            <a:ext cx="3611880" cy="32004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700" b="1">
                <a:solidFill>
                  <a:srgbClr val="152733"/>
                </a:solidFill>
                <a:latin typeface="Inter"/>
              </a:defRPr>
            </a:pPr>
            <a:r>
              <a:t>Compatibilidad poco visible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2" y="3712464"/>
            <a:ext cx="3611880" cy="48463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40" b="0">
                <a:solidFill>
                  <a:srgbClr val="60717A"/>
                </a:solidFill>
                <a:latin typeface="Inter"/>
              </a:defRPr>
            </a:pPr>
            <a:r>
              <a:t>Criterios de asignación no siempre documentados.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14032" y="4590288"/>
            <a:ext cx="4507992" cy="1115568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68312" y="4535424"/>
            <a:ext cx="4507992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51192" y="4754880"/>
            <a:ext cx="384048" cy="384048"/>
          </a:xfrm>
          <a:prstGeom prst="ellipse">
            <a:avLst/>
          </a:prstGeom>
          <a:solidFill>
            <a:srgbClr val="6F8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4809744"/>
            <a:ext cx="347472" cy="27432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9832" y="4672584"/>
            <a:ext cx="3611880" cy="32004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700" b="1">
                <a:solidFill>
                  <a:srgbClr val="152733"/>
                </a:solidFill>
                <a:latin typeface="Inter"/>
              </a:defRPr>
            </a:pPr>
            <a:r>
              <a:t>Controles fuera de plazo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9832" y="5020056"/>
            <a:ext cx="3611880" cy="48463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40" b="0">
                <a:solidFill>
                  <a:srgbClr val="60717A"/>
                </a:solidFill>
                <a:latin typeface="Inter"/>
              </a:defRPr>
            </a:pPr>
            <a:r>
              <a:t>La agenda de seguimiento depende de recordatorios manuales.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117336"/>
            <a:ext cx="10899648" cy="25603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000" b="0">
                <a:solidFill>
                  <a:srgbClr val="60717A"/>
                </a:solidFill>
                <a:latin typeface="Inter"/>
              </a:defRPr>
            </a:pPr>
            <a:r>
              <a:t>¹ Dato histórico de un estudio municipal citado por Primicias (2024); no es un censo actualizado.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73952"/>
            <a:ext cx="10991088" cy="7315"/>
          </a:xfrm>
          <a:prstGeom prst="rect">
            <a:avLst/>
          </a:prstGeom>
          <a:solidFill>
            <a:srgbClr val="DCE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6528816"/>
            <a:ext cx="3931920" cy="17373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UDLA · PROGRAMACIÓN III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Integrante 1 · ≈45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65408" y="6528816"/>
            <a:ext cx="310896" cy="1828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6949440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000" b="1">
                <a:solidFill>
                  <a:srgbClr val="18887F"/>
                </a:solidFill>
                <a:latin typeface="Inter"/>
              </a:defRPr>
            </a:pPr>
            <a:r>
              <a:t>REFUGIOMASCOTAS · PROGRESO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0292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2800" b="1">
                <a:solidFill>
                  <a:srgbClr val="152733"/>
                </a:solidFill>
                <a:latin typeface="Inter"/>
              </a:defRPr>
            </a:pPr>
            <a:r>
              <a:t>De una ficha aislada a un proceso trazable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2918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280" b="0">
                <a:solidFill>
                  <a:srgbClr val="60717A"/>
                </a:solidFill>
                <a:latin typeface="Inter"/>
              </a:defRPr>
            </a:pPr>
            <a:r>
              <a:t>Cada decisión queda asociada con el animal, el postulante y la persona responsable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20824"/>
            <a:ext cx="1719072" cy="1554480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171907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" y="2103120"/>
            <a:ext cx="393192" cy="393192"/>
          </a:xfrm>
          <a:prstGeom prst="ellipse">
            <a:avLst/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125979"/>
            <a:ext cx="393192" cy="34290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96896"/>
            <a:ext cx="1490472" cy="32004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450" b="1">
                <a:solidFill>
                  <a:srgbClr val="152733"/>
                </a:solidFill>
                <a:latin typeface="Inter"/>
              </a:defRPr>
            </a:pPr>
            <a:r>
              <a:t>Ingreso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916936"/>
            <a:ext cx="1426464" cy="45720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040" b="0">
                <a:solidFill>
                  <a:srgbClr val="60717A"/>
                </a:solidFill>
                <a:latin typeface="Inter"/>
              </a:defRPr>
            </a:pPr>
            <a:r>
              <a:t>Ficha y código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22576" y="2761488"/>
            <a:ext cx="182880" cy="0"/>
          </a:xfrm>
          <a:prstGeom prst="line">
            <a:avLst/>
          </a:prstGeom>
          <a:ln w="25400">
            <a:solidFill>
              <a:srgbClr val="1888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60320" y="2020824"/>
            <a:ext cx="1719072" cy="1554480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14600" y="1965960"/>
            <a:ext cx="171907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60904" y="2103120"/>
            <a:ext cx="393192" cy="393192"/>
          </a:xfrm>
          <a:prstGeom prst="ellipse">
            <a:avLst/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60904" y="2125979"/>
            <a:ext cx="393192" cy="34290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2596896"/>
            <a:ext cx="1490472" cy="32004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450" b="1">
                <a:solidFill>
                  <a:srgbClr val="152733"/>
                </a:solidFill>
                <a:latin typeface="Inter"/>
              </a:defRPr>
            </a:pPr>
            <a:r>
              <a:t>Dictamen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0048" y="2916936"/>
            <a:ext cx="1426464" cy="45720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040" b="0">
                <a:solidFill>
                  <a:srgbClr val="60717A"/>
                </a:solidFill>
                <a:latin typeface="Inter"/>
              </a:defRPr>
            </a:pPr>
            <a:r>
              <a:t>Salud + conducta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42816" y="2761488"/>
            <a:ext cx="182880" cy="0"/>
          </a:xfrm>
          <a:prstGeom prst="line">
            <a:avLst/>
          </a:prstGeom>
          <a:ln w="25400">
            <a:solidFill>
              <a:srgbClr val="1888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80560" y="2020824"/>
            <a:ext cx="1719072" cy="1554480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34840" y="1965960"/>
            <a:ext cx="171907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81144" y="2103120"/>
            <a:ext cx="393192" cy="393192"/>
          </a:xfrm>
          <a:prstGeom prst="ellipse">
            <a:avLst/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1144" y="2125979"/>
            <a:ext cx="393192" cy="34290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2596896"/>
            <a:ext cx="1490472" cy="32004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450" b="1">
                <a:solidFill>
                  <a:srgbClr val="152733"/>
                </a:solidFill>
                <a:latin typeface="Inter"/>
              </a:defRPr>
            </a:pPr>
            <a:r>
              <a:t>Solicitud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2916936"/>
            <a:ext cx="1426464" cy="45720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040" b="0">
                <a:solidFill>
                  <a:srgbClr val="60717A"/>
                </a:solidFill>
                <a:latin typeface="Inter"/>
              </a:defRPr>
            </a:pPr>
            <a:r>
              <a:t>Datos del hogar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63056" y="2761488"/>
            <a:ext cx="182880" cy="0"/>
          </a:xfrm>
          <a:prstGeom prst="line">
            <a:avLst/>
          </a:prstGeom>
          <a:ln w="25400">
            <a:solidFill>
              <a:srgbClr val="1888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400800" y="2020824"/>
            <a:ext cx="1719072" cy="1554480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55080" y="1965960"/>
            <a:ext cx="171907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01384" y="2103120"/>
            <a:ext cx="393192" cy="393192"/>
          </a:xfrm>
          <a:prstGeom prst="ellipse">
            <a:avLst/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1384" y="2125979"/>
            <a:ext cx="393192" cy="34290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2596896"/>
            <a:ext cx="1490472" cy="32004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450" b="1">
                <a:solidFill>
                  <a:srgbClr val="152733"/>
                </a:solidFill>
                <a:latin typeface="Inter"/>
              </a:defRPr>
            </a:pPr>
            <a:r>
              <a:t>Evaluación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2916936"/>
            <a:ext cx="1426464" cy="45720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040" b="0">
                <a:solidFill>
                  <a:srgbClr val="60717A"/>
                </a:solidFill>
                <a:latin typeface="Inter"/>
              </a:defRPr>
            </a:pPr>
            <a:r>
              <a:t>Puntaje 0–100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083296" y="2761488"/>
            <a:ext cx="182880" cy="0"/>
          </a:xfrm>
          <a:prstGeom prst="line">
            <a:avLst/>
          </a:prstGeom>
          <a:ln w="25400">
            <a:solidFill>
              <a:srgbClr val="1888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21040" y="2020824"/>
            <a:ext cx="1719072" cy="1554480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75320" y="1965960"/>
            <a:ext cx="171907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21624" y="2103120"/>
            <a:ext cx="393192" cy="393192"/>
          </a:xfrm>
          <a:prstGeom prst="ellipse">
            <a:avLst/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21624" y="2125979"/>
            <a:ext cx="393192" cy="34290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0768" y="2596896"/>
            <a:ext cx="1490472" cy="32004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450" b="1">
                <a:solidFill>
                  <a:srgbClr val="152733"/>
                </a:solidFill>
                <a:latin typeface="Inter"/>
              </a:defRPr>
            </a:pPr>
            <a:r>
              <a:t>Aprobación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0768" y="2916936"/>
            <a:ext cx="1426464" cy="45720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040" b="0">
                <a:solidFill>
                  <a:srgbClr val="60717A"/>
                </a:solidFill>
                <a:latin typeface="Inter"/>
              </a:defRPr>
            </a:pPr>
            <a:r>
              <a:t>Decisión humana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003536" y="2761488"/>
            <a:ext cx="182880" cy="0"/>
          </a:xfrm>
          <a:prstGeom prst="line">
            <a:avLst/>
          </a:prstGeom>
          <a:ln w="25400">
            <a:solidFill>
              <a:srgbClr val="1888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241280" y="2020824"/>
            <a:ext cx="1719072" cy="1554480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195560" y="1965960"/>
            <a:ext cx="171907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341864" y="2103120"/>
            <a:ext cx="393192" cy="393192"/>
          </a:xfrm>
          <a:prstGeom prst="ellipse">
            <a:avLst/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41864" y="2125979"/>
            <a:ext cx="393192" cy="34290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51008" y="2596896"/>
            <a:ext cx="1490472" cy="32004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450" b="1">
                <a:solidFill>
                  <a:srgbClr val="152733"/>
                </a:solidFill>
                <a:latin typeface="Inter"/>
              </a:defRPr>
            </a:pPr>
            <a:r>
              <a:t>Adopción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51008" y="2916936"/>
            <a:ext cx="1426464" cy="45720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040" b="0">
                <a:solidFill>
                  <a:srgbClr val="60717A"/>
                </a:solidFill>
                <a:latin typeface="Inter"/>
              </a:defRPr>
            </a:pPr>
            <a:r>
              <a:t>Asignación única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7552" y="4069080"/>
            <a:ext cx="10259568" cy="1152144"/>
          </a:xfrm>
          <a:prstGeom prst="roundRect">
            <a:avLst>
              <a:gd name="adj" fmla="val 12000"/>
            </a:avLst>
          </a:prstGeom>
          <a:solidFill>
            <a:srgbClr val="E7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34440" y="4325112"/>
            <a:ext cx="3794760" cy="32918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800" b="1">
                <a:solidFill>
                  <a:srgbClr val="18887F"/>
                </a:solidFill>
                <a:latin typeface="Inter"/>
              </a:defRPr>
            </a:pPr>
            <a:r>
              <a:t>SEGUIMIENTO POSTADOPCIÓN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05272" y="4288536"/>
            <a:ext cx="1627632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78424" y="4329684"/>
            <a:ext cx="1481328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200" b="1">
                <a:solidFill>
                  <a:srgbClr val="18887F"/>
                </a:solidFill>
                <a:latin typeface="Inter"/>
              </a:defRPr>
            </a:pPr>
            <a:r>
              <a:t>3 meses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52360" y="4288536"/>
            <a:ext cx="1627632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25512" y="4329684"/>
            <a:ext cx="1481328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200" b="1">
                <a:solidFill>
                  <a:srgbClr val="18887F"/>
                </a:solidFill>
                <a:latin typeface="Inter"/>
              </a:defRPr>
            </a:pPr>
            <a:r>
              <a:t>6 meses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299448" y="4288536"/>
            <a:ext cx="1627632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72600" y="4329684"/>
            <a:ext cx="1481328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200" b="1">
                <a:solidFill>
                  <a:srgbClr val="18887F"/>
                </a:solidFill>
                <a:latin typeface="Inter"/>
              </a:defRPr>
            </a:pPr>
            <a:r>
              <a:t>9 meses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586984"/>
            <a:ext cx="9829800" cy="42062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500" b="1">
                <a:solidFill>
                  <a:srgbClr val="152733"/>
                </a:solidFill>
                <a:latin typeface="Inter"/>
              </a:defRPr>
            </a:pPr>
            <a:r>
              <a:t>El sistema propone un orden; el especialista determina la aptitud y el evaluador decide.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6473952"/>
            <a:ext cx="10991088" cy="7315"/>
          </a:xfrm>
          <a:prstGeom prst="rect">
            <a:avLst/>
          </a:prstGeom>
          <a:solidFill>
            <a:srgbClr val="DCE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" y="6528816"/>
            <a:ext cx="3931920" cy="17373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UDLA · PROGRAMACIÓN III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09560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Integrante 1 · ≈45 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65408" y="6528816"/>
            <a:ext cx="310896" cy="1828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6949440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000" b="1">
                <a:solidFill>
                  <a:srgbClr val="18887F"/>
                </a:solidFill>
                <a:latin typeface="Inter"/>
              </a:defRPr>
            </a:pPr>
            <a:r>
              <a:t>REFUGIOMASCOTAS · PROGRESO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0292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2800" b="1">
                <a:solidFill>
                  <a:srgbClr val="152733"/>
                </a:solidFill>
                <a:latin typeface="Inter"/>
              </a:defRPr>
            </a:pPr>
            <a:r>
              <a:t>Actores, datos y controles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2918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280" b="0">
                <a:solidFill>
                  <a:srgbClr val="60717A"/>
                </a:solidFill>
                <a:latin typeface="Inter"/>
              </a:defRPr>
            </a:pPr>
            <a:r>
              <a:t>Cinco perfiles con responsabilidades distintas y permisos según su función</a:t>
            </a:r>
          </a:p>
        </p:txBody>
      </p:sp>
      <p:pic>
        <p:nvPicPr>
          <p:cNvPr id="6" name="Picture 5" descr="veterinaria_33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496" y="1874519"/>
            <a:ext cx="306324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911095"/>
            <a:ext cx="3593592" cy="1133856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856231"/>
            <a:ext cx="359359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8952" y="2203703"/>
            <a:ext cx="393192" cy="393192"/>
          </a:xfrm>
          <a:prstGeom prst="ellipse">
            <a:avLst/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226563"/>
            <a:ext cx="393192" cy="34290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011679"/>
            <a:ext cx="2734056" cy="36576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620" b="1">
                <a:solidFill>
                  <a:srgbClr val="152733"/>
                </a:solidFill>
                <a:latin typeface="Inter"/>
              </a:defRPr>
            </a:pPr>
            <a:r>
              <a:t>Administrador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32303"/>
            <a:ext cx="2734056" cy="33832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30" b="0">
                <a:solidFill>
                  <a:srgbClr val="60717A"/>
                </a:solidFill>
                <a:latin typeface="Inter"/>
              </a:defRPr>
            </a:pPr>
            <a:r>
              <a:t>Usuarios e indicadores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911095"/>
            <a:ext cx="3593592" cy="1133856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16552" y="1856231"/>
            <a:ext cx="359359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81144" y="2203703"/>
            <a:ext cx="393192" cy="393192"/>
          </a:xfrm>
          <a:prstGeom prst="ellipse">
            <a:avLst/>
          </a:prstGeom>
          <a:solidFill>
            <a:srgbClr val="E39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226563"/>
            <a:ext cx="393192" cy="34290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2011679"/>
            <a:ext cx="2734056" cy="36576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620" b="1">
                <a:solidFill>
                  <a:srgbClr val="152733"/>
                </a:solidFill>
                <a:latin typeface="Inter"/>
              </a:defRPr>
            </a:pPr>
            <a:r>
              <a:t>Veterinario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2432303"/>
            <a:ext cx="2734056" cy="33832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30" b="0">
                <a:solidFill>
                  <a:srgbClr val="60717A"/>
                </a:solidFill>
                <a:latin typeface="Inter"/>
              </a:defRPr>
            </a:pPr>
            <a:r>
              <a:t>Diagnóstico y salud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09544"/>
            <a:ext cx="3593592" cy="1133856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3154679"/>
            <a:ext cx="359359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8952" y="3502151"/>
            <a:ext cx="393192" cy="393192"/>
          </a:xfrm>
          <a:prstGeom prst="ellipse">
            <a:avLst/>
          </a:prstGeom>
          <a:solidFill>
            <a:srgbClr val="749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3525011"/>
            <a:ext cx="393192" cy="34290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310127"/>
            <a:ext cx="2734056" cy="36576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620" b="1">
                <a:solidFill>
                  <a:srgbClr val="152733"/>
                </a:solidFill>
                <a:latin typeface="Inter"/>
              </a:defRPr>
            </a:pPr>
            <a:r>
              <a:t>Esp. conducta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730752"/>
            <a:ext cx="2734056" cy="33832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30" b="0">
                <a:solidFill>
                  <a:srgbClr val="60717A"/>
                </a:solidFill>
                <a:latin typeface="Inter"/>
              </a:defRPr>
            </a:pPr>
            <a:r>
              <a:t>Valoración conductual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62272" y="3209544"/>
            <a:ext cx="3593592" cy="1133856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16552" y="3154679"/>
            <a:ext cx="359359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81144" y="3502151"/>
            <a:ext cx="393192" cy="393192"/>
          </a:xfrm>
          <a:prstGeom prst="ellipse">
            <a:avLst/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1144" y="3525011"/>
            <a:ext cx="393192" cy="34290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3310127"/>
            <a:ext cx="2734056" cy="36576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620" b="1">
                <a:solidFill>
                  <a:srgbClr val="152733"/>
                </a:solidFill>
                <a:latin typeface="Inter"/>
              </a:defRPr>
            </a:pPr>
            <a:r>
              <a:t>Evaluador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2352" y="3730752"/>
            <a:ext cx="2734056" cy="33832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30" b="0">
                <a:solidFill>
                  <a:srgbClr val="60717A"/>
                </a:solidFill>
                <a:latin typeface="Inter"/>
              </a:defRPr>
            </a:pPr>
            <a:r>
              <a:t>Decisión y seguimiento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507991"/>
            <a:ext cx="3593592" cy="1133856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94360" y="4453127"/>
            <a:ext cx="359359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58952" y="4800599"/>
            <a:ext cx="393192" cy="393192"/>
          </a:xfrm>
          <a:prstGeom prst="ellipse">
            <a:avLst/>
          </a:prstGeom>
          <a:solidFill>
            <a:srgbClr val="E39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" y="4823459"/>
            <a:ext cx="393192" cy="34290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4608575"/>
            <a:ext cx="2734056" cy="36576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620" b="1">
                <a:solidFill>
                  <a:srgbClr val="152733"/>
                </a:solidFill>
                <a:latin typeface="Inter"/>
              </a:defRPr>
            </a:pPr>
            <a:r>
              <a:t>Postulante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029199"/>
            <a:ext cx="2734056" cy="33832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30" b="0">
                <a:solidFill>
                  <a:srgbClr val="60717A"/>
                </a:solidFill>
                <a:latin typeface="Inter"/>
              </a:defRPr>
            </a:pPr>
            <a:r>
              <a:t>Datos del hogar y solicitud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17720" y="5788152"/>
            <a:ext cx="1289304" cy="320040"/>
          </a:xfrm>
          <a:prstGeom prst="roundRect">
            <a:avLst>
              <a:gd name="adj" fmla="val 12000"/>
            </a:avLst>
          </a:prstGeom>
          <a:solidFill>
            <a:srgbClr val="E7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90872" y="5829300"/>
            <a:ext cx="1143000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000" b="1">
                <a:solidFill>
                  <a:srgbClr val="18887F"/>
                </a:solidFill>
                <a:latin typeface="Inter"/>
              </a:defRPr>
            </a:pPr>
            <a:r>
              <a:t>Perro apto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0" y="5788152"/>
            <a:ext cx="1554480" cy="320040"/>
          </a:xfrm>
          <a:prstGeom prst="roundRect">
            <a:avLst>
              <a:gd name="adj" fmla="val 12000"/>
            </a:avLst>
          </a:prstGeom>
          <a:solidFill>
            <a:srgbClr val="E7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08192" y="5829300"/>
            <a:ext cx="1408176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000" b="1">
                <a:solidFill>
                  <a:srgbClr val="18887F"/>
                </a:solidFill>
                <a:latin typeface="Inter"/>
              </a:defRPr>
            </a:pPr>
            <a:r>
              <a:t>Solicitud válida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6473952"/>
            <a:ext cx="10991088" cy="7315"/>
          </a:xfrm>
          <a:prstGeom prst="rect">
            <a:avLst/>
          </a:prstGeom>
          <a:solidFill>
            <a:srgbClr val="DCE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6528816"/>
            <a:ext cx="3931920" cy="17373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UDLA · PROGRAMACIÓN III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9560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Integrante 1 · ≈35 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65408" y="6528816"/>
            <a:ext cx="310896" cy="1828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6949440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000" b="1">
                <a:solidFill>
                  <a:srgbClr val="18887F"/>
                </a:solidFill>
                <a:latin typeface="Inter"/>
              </a:defRPr>
            </a:pPr>
            <a:r>
              <a:t>REFUGIOMASCOTAS · PROGRESO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0292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2800" b="1">
                <a:solidFill>
                  <a:srgbClr val="152733"/>
                </a:solidFill>
                <a:latin typeface="Inter"/>
              </a:defRPr>
            </a:pPr>
            <a:r>
              <a:t>Seis módulos conectados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2918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280" b="0">
                <a:solidFill>
                  <a:srgbClr val="60717A"/>
                </a:solidFill>
                <a:latin typeface="Inter"/>
              </a:defRPr>
            </a:pPr>
            <a:r>
              <a:t>Cada módulo reúne datos, cuatro o más operaciones y reglas verificables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" y="1901952"/>
            <a:ext cx="3602736" cy="1645920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3504" y="1847088"/>
            <a:ext cx="3602736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621792" cy="320040"/>
          </a:xfrm>
          <a:prstGeom prst="roundRect">
            <a:avLst>
              <a:gd name="adj" fmla="val 12000"/>
            </a:avLst>
          </a:prstGeom>
          <a:solidFill>
            <a:srgbClr val="E7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052828"/>
            <a:ext cx="475488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300" b="1">
                <a:solidFill>
                  <a:srgbClr val="18887F"/>
                </a:solidFill>
                <a:latin typeface="Inter"/>
              </a:defRPr>
            </a:pPr>
            <a:r>
              <a:t>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59736"/>
            <a:ext cx="3154680" cy="43891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720" b="1">
                <a:solidFill>
                  <a:srgbClr val="152733"/>
                </a:solidFill>
                <a:latin typeface="Inter"/>
              </a:defRPr>
            </a:pPr>
            <a:r>
              <a:t>Usuarios y seguridad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926080"/>
            <a:ext cx="3209544" cy="36576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20" b="0">
                <a:solidFill>
                  <a:srgbClr val="60717A"/>
                </a:solidFill>
                <a:latin typeface="Inter"/>
              </a:defRPr>
            </a:pPr>
            <a:r>
              <a:t>Roles · acceso · auditoría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7136" y="1901952"/>
            <a:ext cx="3602736" cy="1645920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71416" y="1847088"/>
            <a:ext cx="3602736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11680"/>
            <a:ext cx="621792" cy="320040"/>
          </a:xfrm>
          <a:prstGeom prst="roundRect">
            <a:avLst>
              <a:gd name="adj" fmla="val 12000"/>
            </a:avLst>
          </a:prstGeom>
          <a:solidFill>
            <a:srgbClr val="E7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2052828"/>
            <a:ext cx="475488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300" b="1">
                <a:solidFill>
                  <a:srgbClr val="18887F"/>
                </a:solidFill>
                <a:latin typeface="Inter"/>
              </a:defRPr>
            </a:pPr>
            <a:r>
              <a:t>M2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2459736"/>
            <a:ext cx="3154680" cy="43891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720" b="1">
                <a:solidFill>
                  <a:srgbClr val="152733"/>
                </a:solidFill>
                <a:latin typeface="Inter"/>
              </a:defRPr>
            </a:pPr>
            <a:r>
              <a:t>Perros y fichas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2926080"/>
            <a:ext cx="3209544" cy="36576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20" b="0">
                <a:solidFill>
                  <a:srgbClr val="60717A"/>
                </a:solidFill>
                <a:latin typeface="Inter"/>
              </a:defRPr>
            </a:pPr>
            <a:r>
              <a:t>Salud · conducta · cola clínica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85048" y="1901952"/>
            <a:ext cx="3602736" cy="1645920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39328" y="1847088"/>
            <a:ext cx="3602736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13064" y="2011680"/>
            <a:ext cx="621792" cy="320040"/>
          </a:xfrm>
          <a:prstGeom prst="roundRect">
            <a:avLst>
              <a:gd name="adj" fmla="val 12000"/>
            </a:avLst>
          </a:prstGeom>
          <a:solidFill>
            <a:srgbClr val="E7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86216" y="2052828"/>
            <a:ext cx="475488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300" b="1">
                <a:solidFill>
                  <a:srgbClr val="18887F"/>
                </a:solidFill>
                <a:latin typeface="Inter"/>
              </a:defRPr>
            </a:pPr>
            <a:r>
              <a:t>M3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0496" y="2459736"/>
            <a:ext cx="3154680" cy="43891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720" b="1">
                <a:solidFill>
                  <a:srgbClr val="152733"/>
                </a:solidFill>
                <a:latin typeface="Inter"/>
              </a:defRPr>
            </a:pPr>
            <a:r>
              <a:t>Postulantes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0496" y="2926080"/>
            <a:ext cx="3209544" cy="36576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20" b="0">
                <a:solidFill>
                  <a:srgbClr val="60717A"/>
                </a:solidFill>
                <a:latin typeface="Inter"/>
              </a:defRPr>
            </a:pPr>
            <a:r>
              <a:t>Solicitudes · búsqueda · filtros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" y="3803903"/>
            <a:ext cx="3602736" cy="1645920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3504" y="3749039"/>
            <a:ext cx="3602736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3913631"/>
            <a:ext cx="621792" cy="320040"/>
          </a:xfrm>
          <a:prstGeom prst="roundRect">
            <a:avLst>
              <a:gd name="adj" fmla="val 12000"/>
            </a:avLst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3954779"/>
            <a:ext cx="475488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M4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4361688"/>
            <a:ext cx="3154680" cy="43891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720" b="1">
                <a:solidFill>
                  <a:srgbClr val="152733"/>
                </a:solidFill>
                <a:latin typeface="Inter"/>
              </a:defRPr>
            </a:pPr>
            <a:r>
              <a:t>Compatibilidad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4828031"/>
            <a:ext cx="3209544" cy="36576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20" b="0">
                <a:solidFill>
                  <a:srgbClr val="60717A"/>
                </a:solidFill>
                <a:latin typeface="Inter"/>
              </a:defRPr>
            </a:pPr>
            <a:r>
              <a:t>Puntajes · ranking · decisión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17136" y="3803903"/>
            <a:ext cx="3602736" cy="1645920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71416" y="3749039"/>
            <a:ext cx="3602736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645152" y="3913631"/>
            <a:ext cx="621792" cy="320040"/>
          </a:xfrm>
          <a:prstGeom prst="roundRect">
            <a:avLst>
              <a:gd name="adj" fmla="val 12000"/>
            </a:avLst>
          </a:prstGeom>
          <a:solidFill>
            <a:srgbClr val="E7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3954779"/>
            <a:ext cx="475488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300" b="1">
                <a:solidFill>
                  <a:srgbClr val="18887F"/>
                </a:solidFill>
                <a:latin typeface="Inter"/>
              </a:defRPr>
            </a:pPr>
            <a:r>
              <a:t>M5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72584" y="4361688"/>
            <a:ext cx="3154680" cy="43891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720" b="1">
                <a:solidFill>
                  <a:srgbClr val="152733"/>
                </a:solidFill>
                <a:latin typeface="Inter"/>
              </a:defRPr>
            </a:pPr>
            <a:r>
              <a:t>Seguimiento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2584" y="4828031"/>
            <a:ext cx="3209544" cy="36576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20" b="0">
                <a:solidFill>
                  <a:srgbClr val="60717A"/>
                </a:solidFill>
                <a:latin typeface="Inter"/>
              </a:defRPr>
            </a:pPr>
            <a:r>
              <a:t>Agenda · alertas · vencidos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85048" y="3803903"/>
            <a:ext cx="3602736" cy="1645920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339328" y="3749039"/>
            <a:ext cx="3602736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13064" y="3913631"/>
            <a:ext cx="621792" cy="320040"/>
          </a:xfrm>
          <a:prstGeom prst="roundRect">
            <a:avLst>
              <a:gd name="adj" fmla="val 12000"/>
            </a:avLst>
          </a:prstGeom>
          <a:solidFill>
            <a:srgbClr val="E7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86216" y="3954779"/>
            <a:ext cx="475488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300" b="1">
                <a:solidFill>
                  <a:srgbClr val="18887F"/>
                </a:solidFill>
                <a:latin typeface="Inter"/>
              </a:defRPr>
            </a:pPr>
            <a:r>
              <a:t>M6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0496" y="4361688"/>
            <a:ext cx="3154680" cy="43891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720" b="1">
                <a:solidFill>
                  <a:srgbClr val="152733"/>
                </a:solidFill>
                <a:latin typeface="Inter"/>
              </a:defRPr>
            </a:pPr>
            <a:r>
              <a:t>Reportes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0496" y="4828031"/>
            <a:ext cx="3209544" cy="36576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20" b="0">
                <a:solidFill>
                  <a:srgbClr val="60717A"/>
                </a:solidFill>
                <a:latin typeface="Inter"/>
              </a:defRPr>
            </a:pPr>
            <a:r>
              <a:t>Indicadores · tasas · consultas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" y="5879592"/>
            <a:ext cx="10972800" cy="320040"/>
          </a:xfrm>
          <a:prstGeom prst="roundRect">
            <a:avLst>
              <a:gd name="adj" fmla="val 12000"/>
            </a:avLst>
          </a:prstGeom>
          <a:solidFill>
            <a:srgbClr val="E7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8" y="5916168"/>
            <a:ext cx="10561320" cy="24688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200" b="1">
                <a:solidFill>
                  <a:srgbClr val="18887F"/>
                </a:solidFill>
                <a:latin typeface="Inter"/>
              </a:defRPr>
            </a:pPr>
            <a:r>
              <a:t>M4 concentra el núcleo algorítmico; M1 aporta permisos y M6 consolida resultados.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6473952"/>
            <a:ext cx="10991088" cy="7315"/>
          </a:xfrm>
          <a:prstGeom prst="rect">
            <a:avLst/>
          </a:prstGeom>
          <a:solidFill>
            <a:srgbClr val="DCE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6528816"/>
            <a:ext cx="3931920" cy="17373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UDLA · PROGRAMACIÓN III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Integrante 2 · ≈45 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65408" y="6528816"/>
            <a:ext cx="310896" cy="1828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6949440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000" b="1">
                <a:solidFill>
                  <a:srgbClr val="18887F"/>
                </a:solidFill>
                <a:latin typeface="Inter"/>
              </a:defRPr>
            </a:pPr>
            <a:r>
              <a:t>REFUGIOMASCOTAS · PROGRESO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0292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2800" b="1">
                <a:solidFill>
                  <a:srgbClr val="152733"/>
                </a:solidFill>
                <a:latin typeface="Inter"/>
              </a:defRPr>
            </a:pPr>
            <a:r>
              <a:t>Cómo se priorizan las solicitudes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2918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280" b="0">
                <a:solidFill>
                  <a:srgbClr val="60717A"/>
                </a:solidFill>
                <a:latin typeface="Inter"/>
              </a:defRPr>
            </a:pPr>
            <a:r>
              <a:t>Puntaje explicable + reglas de elegibilidad + decisión humana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83664"/>
            <a:ext cx="5166360" cy="3566160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166360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048256"/>
            <a:ext cx="4114800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050" b="1">
                <a:solidFill>
                  <a:srgbClr val="18887F"/>
                </a:solidFill>
                <a:latin typeface="Inter"/>
              </a:defRPr>
            </a:pPr>
            <a:r>
              <a:t>MODELO ACADÉMICO PROPUESTO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542032"/>
            <a:ext cx="4663440" cy="71323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3100" b="1">
                <a:solidFill>
                  <a:srgbClr val="152733"/>
                </a:solidFill>
                <a:latin typeface="Inter"/>
              </a:defRPr>
            </a:pPr>
            <a:r>
              <a:t>50 + Σ ajustes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37560"/>
            <a:ext cx="4572000" cy="32004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300" b="0">
                <a:solidFill>
                  <a:srgbClr val="60717A"/>
                </a:solidFill>
                <a:latin typeface="Inter"/>
              </a:defRPr>
            </a:pPr>
            <a:r>
              <a:t>Se limita a un resultado entre 0 y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" y="3904487"/>
            <a:ext cx="4434840" cy="521207"/>
          </a:xfrm>
          <a:prstGeom prst="roundRect">
            <a:avLst>
              <a:gd name="adj" fmla="val 12000"/>
            </a:avLst>
          </a:prstGeom>
          <a:solidFill>
            <a:srgbClr val="E7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3995928"/>
            <a:ext cx="4224528" cy="30175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500" b="1">
                <a:solidFill>
                  <a:srgbClr val="18887F"/>
                </a:solidFill>
                <a:latin typeface="Inter"/>
              </a:defRPr>
            </a:pPr>
            <a:r>
              <a:t>7 factores de compatibilidad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654296"/>
            <a:ext cx="4617720" cy="55778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130" b="0">
                <a:solidFill>
                  <a:srgbClr val="60717A"/>
                </a:solidFill>
                <a:latin typeface="Inter"/>
              </a:defRPr>
            </a:pPr>
            <a:r>
              <a:t>Salud, conducta, energía, hogar, niños, mascotas y experiencia.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7336" y="1883664"/>
            <a:ext cx="5477256" cy="3566160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71616" y="1828800"/>
            <a:ext cx="5477256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2048256"/>
            <a:ext cx="4754880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019" b="1">
                <a:solidFill>
                  <a:srgbClr val="18887F"/>
                </a:solidFill>
                <a:latin typeface="Inter"/>
              </a:defRPr>
            </a:pPr>
            <a:r>
              <a:t>RANKING DE PRUEBA (DATOS FICTICIOS)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468880"/>
            <a:ext cx="338328" cy="338328"/>
          </a:xfrm>
          <a:prstGeom prst="ellipse">
            <a:avLst/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498140"/>
            <a:ext cx="338328" cy="24688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Inter"/>
              </a:defRPr>
            </a:pPr>
            <a: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7144" y="2467051"/>
            <a:ext cx="502920" cy="38404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2000" b="1">
                <a:solidFill>
                  <a:srgbClr val="152733"/>
                </a:solidFill>
                <a:latin typeface="Inter"/>
              </a:defRPr>
            </a:pPr>
            <a:r>
              <a:t>86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34072" y="2532888"/>
            <a:ext cx="2044598" cy="201168"/>
          </a:xfrm>
          <a:prstGeom prst="roundRect">
            <a:avLst>
              <a:gd name="adj" fmla="val 12000"/>
            </a:avLst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39528" y="2514600"/>
            <a:ext cx="1399032" cy="26517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00" b="0">
                <a:solidFill>
                  <a:srgbClr val="60717A"/>
                </a:solidFill>
                <a:latin typeface="Inter"/>
              </a:defRPr>
            </a:pPr>
            <a:r>
              <a:t>Principal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3108960"/>
            <a:ext cx="338328" cy="338328"/>
          </a:xfrm>
          <a:prstGeom prst="ellipse">
            <a:avLst/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138220"/>
            <a:ext cx="338328" cy="24688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Inter"/>
              </a:defRPr>
            </a:pPr>
            <a: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7144" y="3107131"/>
            <a:ext cx="502920" cy="38404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2000" b="1">
                <a:solidFill>
                  <a:srgbClr val="152733"/>
                </a:solidFill>
                <a:latin typeface="Inter"/>
              </a:defRPr>
            </a:pPr>
            <a:r>
              <a:t>86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34072" y="3172968"/>
            <a:ext cx="2044598" cy="201168"/>
          </a:xfrm>
          <a:prstGeom prst="roundRect">
            <a:avLst>
              <a:gd name="adj" fmla="val 12000"/>
            </a:avLst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39528" y="3154680"/>
            <a:ext cx="1399032" cy="26517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00" b="0">
                <a:solidFill>
                  <a:srgbClr val="60717A"/>
                </a:solidFill>
                <a:latin typeface="Inter"/>
              </a:defRPr>
            </a:pPr>
            <a:r>
              <a:t>Secundaria</a:t>
            </a:r>
          </a:p>
        </p:txBody>
      </p:sp>
      <p:sp>
        <p:nvSpPr>
          <p:cNvPr id="27" name="Oval 26"/>
          <p:cNvSpPr/>
          <p:nvPr/>
        </p:nvSpPr>
        <p:spPr>
          <a:xfrm>
            <a:off x="6355080" y="3749039"/>
            <a:ext cx="338328" cy="338328"/>
          </a:xfrm>
          <a:prstGeom prst="ellipse">
            <a:avLst/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778300"/>
            <a:ext cx="338328" cy="24688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Inter"/>
              </a:defRPr>
            </a:pPr>
            <a: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67144" y="3747211"/>
            <a:ext cx="502920" cy="38404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2000" b="1">
                <a:solidFill>
                  <a:srgbClr val="152733"/>
                </a:solidFill>
                <a:latin typeface="Inter"/>
              </a:defRPr>
            </a:pPr>
            <a:r>
              <a:t>81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34072" y="3813048"/>
            <a:ext cx="1925726" cy="201168"/>
          </a:xfrm>
          <a:prstGeom prst="roundRect">
            <a:avLst>
              <a:gd name="adj" fmla="val 12000"/>
            </a:avLst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39528" y="3794759"/>
            <a:ext cx="1399032" cy="26517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00" b="0">
                <a:solidFill>
                  <a:srgbClr val="60717A"/>
                </a:solidFill>
                <a:latin typeface="Inter"/>
              </a:defRPr>
            </a:pPr>
            <a:r>
              <a:t>Principal</a:t>
            </a:r>
          </a:p>
        </p:txBody>
      </p:sp>
      <p:sp>
        <p:nvSpPr>
          <p:cNvPr id="32" name="Oval 31"/>
          <p:cNvSpPr/>
          <p:nvPr/>
        </p:nvSpPr>
        <p:spPr>
          <a:xfrm>
            <a:off x="6355080" y="4389120"/>
            <a:ext cx="338328" cy="338328"/>
          </a:xfrm>
          <a:prstGeom prst="ellipse">
            <a:avLst/>
          </a:prstGeom>
          <a:solidFill>
            <a:srgbClr val="E39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418380"/>
            <a:ext cx="338328" cy="24688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Inter"/>
              </a:defRPr>
            </a:pPr>
            <a:r>
              <a:t>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67144" y="4387291"/>
            <a:ext cx="502920" cy="38404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2000" b="1">
                <a:solidFill>
                  <a:srgbClr val="152733"/>
                </a:solidFill>
                <a:latin typeface="Inter"/>
              </a:defRPr>
            </a:pPr>
            <a:r>
              <a:t>70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34072" y="4453128"/>
            <a:ext cx="1664207" cy="201168"/>
          </a:xfrm>
          <a:prstGeom prst="roundRect">
            <a:avLst>
              <a:gd name="adj" fmla="val 12000"/>
            </a:avLst>
          </a:prstGeom>
          <a:solidFill>
            <a:srgbClr val="E39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39528" y="4434840"/>
            <a:ext cx="1399032" cy="26517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00" b="0">
                <a:solidFill>
                  <a:srgbClr val="60717A"/>
                </a:solidFill>
                <a:latin typeface="Inter"/>
              </a:defRPr>
            </a:pPr>
            <a:r>
              <a:t>Revisar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669280"/>
            <a:ext cx="10890504" cy="365760"/>
          </a:xfrm>
          <a:prstGeom prst="roundRect">
            <a:avLst>
              <a:gd name="adj" fmla="val 12000"/>
            </a:avLst>
          </a:prstGeom>
          <a:solidFill>
            <a:srgbClr val="E7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5715000"/>
            <a:ext cx="10561320" cy="25603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140" b="1">
                <a:solidFill>
                  <a:srgbClr val="18887F"/>
                </a:solidFill>
                <a:latin typeface="Inter"/>
              </a:defRPr>
            </a:pPr>
            <a:r>
              <a:t>Reglas de seguridad: aptitud sanitaria + solicitud activa + evaluación documentada + aprobación responsable.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6473952"/>
            <a:ext cx="10991088" cy="7315"/>
          </a:xfrm>
          <a:prstGeom prst="rect">
            <a:avLst/>
          </a:prstGeom>
          <a:solidFill>
            <a:srgbClr val="DCE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6528816"/>
            <a:ext cx="3931920" cy="17373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UDLA · PROGRAMACIÓN III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9560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Integrante 2 · ≈50 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65408" y="6528816"/>
            <a:ext cx="310896" cy="1828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6949440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000" b="1">
                <a:solidFill>
                  <a:srgbClr val="18887F"/>
                </a:solidFill>
                <a:latin typeface="Inter"/>
              </a:defRPr>
            </a:pPr>
            <a:r>
              <a:t>REFUGIOMASCOTAS · PROGRESO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0292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2800" b="1">
                <a:solidFill>
                  <a:srgbClr val="152733"/>
                </a:solidFill>
                <a:latin typeface="Inter"/>
              </a:defRPr>
            </a:pPr>
            <a:r>
              <a:t>UML preliminar | clases de dominio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2918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280" b="0">
                <a:solidFill>
                  <a:srgbClr val="60717A"/>
                </a:solidFill>
                <a:latin typeface="Inter"/>
              </a:defRPr>
            </a:pPr>
            <a:r>
              <a:t>Modelo de entidades, asociaciones, multiplicidades y servicios del núcleo algorítmico</a:t>
            </a:r>
          </a:p>
        </p:txBody>
      </p:sp>
      <p:pic>
        <p:nvPicPr>
          <p:cNvPr id="6" name="Picture 5" descr="uml_cor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37943"/>
            <a:ext cx="5868206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933688" y="1929384"/>
            <a:ext cx="2697480" cy="3611880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87968" y="1874519"/>
            <a:ext cx="2697480" cy="3611880"/>
          </a:xfrm>
          <a:prstGeom prst="roundRect">
            <a:avLst>
              <a:gd name="adj" fmla="val 12000"/>
            </a:avLst>
          </a:prstGeom>
          <a:solidFill>
            <a:srgbClr val="E7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98280" y="2139696"/>
            <a:ext cx="2304288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000" b="1">
                <a:solidFill>
                  <a:srgbClr val="18887F"/>
                </a:solidFill>
                <a:latin typeface="Inter"/>
              </a:defRPr>
            </a:pPr>
            <a:r>
              <a:t>RELACIONES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89136" y="2569464"/>
            <a:ext cx="2249424" cy="49377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200" b="1">
                <a:solidFill>
                  <a:srgbClr val="152733"/>
                </a:solidFill>
                <a:latin typeface="Inter"/>
              </a:defRPr>
            </a:pPr>
            <a:r>
              <a:t>• Perro → Control: 1 a 0..*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9136" y="3182112"/>
            <a:ext cx="2249424" cy="49377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200" b="0">
                <a:solidFill>
                  <a:srgbClr val="152733"/>
                </a:solidFill>
                <a:latin typeface="Inter"/>
              </a:defRPr>
            </a:pPr>
            <a:r>
              <a:t>• Solicitud → Evaluación: 1 a 0..1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89136" y="3794760"/>
            <a:ext cx="2249424" cy="49377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200" b="0">
                <a:solidFill>
                  <a:srgbClr val="152733"/>
                </a:solidFill>
                <a:latin typeface="Inter"/>
              </a:defRPr>
            </a:pPr>
            <a:r>
              <a:t>• Evaluación → Seguimiento: 1 a 0..3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89136" y="4407408"/>
            <a:ext cx="2249424" cy="49377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200" b="0">
                <a:solidFill>
                  <a:srgbClr val="152733"/>
                </a:solidFill>
                <a:latin typeface="Inter"/>
              </a:defRPr>
            </a:pPr>
            <a:r>
              <a:t>• Cola y agenda como servicios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73952"/>
            <a:ext cx="10991088" cy="7315"/>
          </a:xfrm>
          <a:prstGeom prst="rect">
            <a:avLst/>
          </a:prstGeom>
          <a:solidFill>
            <a:srgbClr val="DCE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528816"/>
            <a:ext cx="3931920" cy="17373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UDLA · PROGRAMACIÓN III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Integrante 3 · ≈45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65408" y="6528816"/>
            <a:ext cx="310896" cy="1828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6949440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000" b="1">
                <a:solidFill>
                  <a:srgbClr val="18887F"/>
                </a:solidFill>
                <a:latin typeface="Inter"/>
              </a:defRPr>
            </a:pPr>
            <a:r>
              <a:t>REFUGIOMASCOTAS · PROGRESO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0292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2800" b="1">
                <a:solidFill>
                  <a:srgbClr val="152733"/>
                </a:solidFill>
                <a:latin typeface="Inter"/>
              </a:defRPr>
            </a:pPr>
            <a:r>
              <a:t>UML preliminar | roles y permisos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2918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280" b="0">
                <a:solidFill>
                  <a:srgbClr val="60717A"/>
                </a:solidFill>
                <a:latin typeface="Inter"/>
              </a:defRPr>
            </a:pPr>
            <a:r>
              <a:t>Herencia de Usuario y trazabilidad de los responsables de cada intervención</a:t>
            </a:r>
          </a:p>
        </p:txBody>
      </p:sp>
      <p:pic>
        <p:nvPicPr>
          <p:cNvPr id="6" name="Picture 5" descr="uml_roles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792224"/>
            <a:ext cx="10972800" cy="418481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" y="5870448"/>
            <a:ext cx="10442448" cy="347472"/>
          </a:xfrm>
          <a:prstGeom prst="roundRect">
            <a:avLst>
              <a:gd name="adj" fmla="val 12000"/>
            </a:avLst>
          </a:prstGeom>
          <a:solidFill>
            <a:srgbClr val="E7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925312"/>
            <a:ext cx="10113264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200" b="1">
                <a:solidFill>
                  <a:srgbClr val="18887F"/>
                </a:solidFill>
                <a:latin typeface="Inter"/>
              </a:defRPr>
            </a:pPr>
            <a:r>
              <a:t>14 clases en el modelo global: 11 de dominio y 3 servicios algorítmicos.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73952"/>
            <a:ext cx="10991088" cy="7315"/>
          </a:xfrm>
          <a:prstGeom prst="rect">
            <a:avLst/>
          </a:prstGeom>
          <a:solidFill>
            <a:srgbClr val="DCE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28816"/>
            <a:ext cx="3931920" cy="17373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UDLA · PROGRAMACIÓN III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Integrante 3 · ≈35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65408" y="6528816"/>
            <a:ext cx="310896" cy="1828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6949440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000" b="1">
                <a:solidFill>
                  <a:srgbClr val="18887F"/>
                </a:solidFill>
                <a:latin typeface="Inter"/>
              </a:defRPr>
            </a:pPr>
            <a:r>
              <a:t>REFUGIOMASCOTAS · PROGRESO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0292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2800" b="1">
                <a:solidFill>
                  <a:srgbClr val="152733"/>
                </a:solidFill>
                <a:latin typeface="Inter"/>
              </a:defRPr>
            </a:pPr>
            <a:r>
              <a:t>Dos alternativas de estructuras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2918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280" b="0">
                <a:solidFill>
                  <a:srgbClr val="60717A"/>
                </a:solidFill>
                <a:latin typeface="Inter"/>
              </a:defRPr>
            </a:pPr>
            <a:r>
              <a:t>Misma lógica de negocio; distinta forma de buscar, ordenar y recuperar información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38528"/>
            <a:ext cx="5422392" cy="4050791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83664"/>
            <a:ext cx="5422392" cy="40507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83664"/>
            <a:ext cx="5422392" cy="694944"/>
          </a:xfrm>
          <a:prstGeom prst="roundRect">
            <a:avLst>
              <a:gd name="adj" fmla="val 12000"/>
            </a:avLst>
          </a:prstGeom>
          <a:solidFill>
            <a:srgbClr val="E39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2743200" cy="28346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ALTERNATIVA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4846320" cy="47548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2400" b="1">
                <a:solidFill>
                  <a:srgbClr val="152733"/>
                </a:solidFill>
                <a:latin typeface="Inter"/>
              </a:defRPr>
            </a:pPr>
            <a:r>
              <a:t>Listas secuenciales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10128"/>
            <a:ext cx="4864608" cy="30175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200" b="0">
                <a:solidFill>
                  <a:srgbClr val="60717A"/>
                </a:solidFill>
                <a:latin typeface="Inter"/>
              </a:defRPr>
            </a:pPr>
            <a:r>
              <a:t>Simple para empezar</a:t>
            </a:r>
          </a:p>
        </p:txBody>
      </p:sp>
      <p:sp>
        <p:nvSpPr>
          <p:cNvPr id="12" name="Oval 11"/>
          <p:cNvSpPr/>
          <p:nvPr/>
        </p:nvSpPr>
        <p:spPr>
          <a:xfrm>
            <a:off x="905256" y="3831335"/>
            <a:ext cx="137160" cy="137160"/>
          </a:xfrm>
          <a:prstGeom prst="ellipse">
            <a:avLst/>
          </a:prstGeom>
          <a:solidFill>
            <a:srgbClr val="E39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3739896"/>
            <a:ext cx="1920240" cy="38404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400" b="1">
                <a:solidFill>
                  <a:srgbClr val="152733"/>
                </a:solidFill>
                <a:latin typeface="Inter"/>
              </a:defRPr>
            </a:pPr>
            <a:r>
              <a:t>ArrayList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2656" y="3739896"/>
            <a:ext cx="2825496" cy="36576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30" b="0">
                <a:solidFill>
                  <a:srgbClr val="60717A"/>
                </a:solidFill>
                <a:latin typeface="Inter"/>
              </a:defRPr>
            </a:pPr>
            <a:r>
              <a:t>Almacenamiento de entidades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" y="4434840"/>
            <a:ext cx="137160" cy="137160"/>
          </a:xfrm>
          <a:prstGeom prst="ellipse">
            <a:avLst/>
          </a:prstGeom>
          <a:solidFill>
            <a:srgbClr val="E39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4343400"/>
            <a:ext cx="1920240" cy="38404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400" b="1">
                <a:solidFill>
                  <a:srgbClr val="152733"/>
                </a:solidFill>
                <a:latin typeface="Inter"/>
              </a:defRPr>
            </a:pPr>
            <a:r>
              <a:t>Búsqueda lineal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4343400"/>
            <a:ext cx="2825496" cy="36576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30" b="0">
                <a:solidFill>
                  <a:srgbClr val="60717A"/>
                </a:solidFill>
                <a:latin typeface="Inter"/>
              </a:defRPr>
            </a:pPr>
            <a:r>
              <a:t>Recorrer todos los registros</a:t>
            </a:r>
          </a:p>
        </p:txBody>
      </p:sp>
      <p:sp>
        <p:nvSpPr>
          <p:cNvPr id="18" name="Oval 17"/>
          <p:cNvSpPr/>
          <p:nvPr/>
        </p:nvSpPr>
        <p:spPr>
          <a:xfrm>
            <a:off x="905256" y="5038344"/>
            <a:ext cx="137160" cy="137160"/>
          </a:xfrm>
          <a:prstGeom prst="ellipse">
            <a:avLst/>
          </a:prstGeom>
          <a:solidFill>
            <a:srgbClr val="E39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" y="4946904"/>
            <a:ext cx="1920240" cy="38404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400" b="1">
                <a:solidFill>
                  <a:srgbClr val="152733"/>
                </a:solidFill>
                <a:latin typeface="Inter"/>
              </a:defRPr>
            </a:pPr>
            <a:r>
              <a:t>Ordenamiento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4946904"/>
            <a:ext cx="2825496" cy="36576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30" b="0">
                <a:solidFill>
                  <a:srgbClr val="60717A"/>
                </a:solidFill>
                <a:latin typeface="Inter"/>
              </a:defRPr>
            </a:pPr>
            <a:r>
              <a:t>Ranking por consulta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37376" y="1938528"/>
            <a:ext cx="5422392" cy="4050791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91656" y="1883664"/>
            <a:ext cx="5422392" cy="40507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91656" y="1883664"/>
            <a:ext cx="5422392" cy="694944"/>
          </a:xfrm>
          <a:prstGeom prst="roundRect">
            <a:avLst>
              <a:gd name="adj" fmla="val 12000"/>
            </a:avLst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0256" y="1965960"/>
            <a:ext cx="2743200" cy="28346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ALTERNATIVA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0256" y="2788920"/>
            <a:ext cx="4846320" cy="47548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2400" b="1">
                <a:solidFill>
                  <a:srgbClr val="152733"/>
                </a:solidFill>
                <a:latin typeface="Inter"/>
              </a:defRPr>
            </a:pPr>
            <a:r>
              <a:t>Índices y prioridades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0256" y="3310128"/>
            <a:ext cx="4864608" cy="30175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200" b="0">
                <a:solidFill>
                  <a:srgbClr val="60717A"/>
                </a:solidFill>
                <a:latin typeface="Inter"/>
              </a:defRPr>
            </a:pPr>
            <a:r>
              <a:t>Seleccionada por eficiencia</a:t>
            </a:r>
          </a:p>
        </p:txBody>
      </p:sp>
      <p:sp>
        <p:nvSpPr>
          <p:cNvPr id="27" name="Oval 26"/>
          <p:cNvSpPr/>
          <p:nvPr/>
        </p:nvSpPr>
        <p:spPr>
          <a:xfrm>
            <a:off x="6656832" y="3831335"/>
            <a:ext cx="137160" cy="137160"/>
          </a:xfrm>
          <a:prstGeom prst="ellipse">
            <a:avLst/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12864" y="3739896"/>
            <a:ext cx="1920240" cy="38404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400" b="1">
                <a:solidFill>
                  <a:srgbClr val="152733"/>
                </a:solidFill>
                <a:latin typeface="Inter"/>
              </a:defRPr>
            </a:pPr>
            <a:r>
              <a:t>HashMap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14232" y="3739896"/>
            <a:ext cx="2825496" cy="36576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30" b="0">
                <a:solidFill>
                  <a:srgbClr val="60717A"/>
                </a:solidFill>
                <a:latin typeface="Inter"/>
              </a:defRPr>
            </a:pPr>
            <a:r>
              <a:t>Búsqueda por identificador</a:t>
            </a:r>
          </a:p>
        </p:txBody>
      </p:sp>
      <p:sp>
        <p:nvSpPr>
          <p:cNvPr id="30" name="Oval 29"/>
          <p:cNvSpPr/>
          <p:nvPr/>
        </p:nvSpPr>
        <p:spPr>
          <a:xfrm>
            <a:off x="6656832" y="4434840"/>
            <a:ext cx="137160" cy="137160"/>
          </a:xfrm>
          <a:prstGeom prst="ellipse">
            <a:avLst/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12864" y="4343400"/>
            <a:ext cx="1920240" cy="38404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400" b="1">
                <a:solidFill>
                  <a:srgbClr val="152733"/>
                </a:solidFill>
                <a:latin typeface="Inter"/>
              </a:defRPr>
            </a:pPr>
            <a:r>
              <a:t>PriorityQueue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14232" y="4343400"/>
            <a:ext cx="2825496" cy="36576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30" b="0">
                <a:solidFill>
                  <a:srgbClr val="60717A"/>
                </a:solidFill>
                <a:latin typeface="Inter"/>
              </a:defRPr>
            </a:pPr>
            <a:r>
              <a:t>Candidatos y cola clínica</a:t>
            </a:r>
          </a:p>
        </p:txBody>
      </p:sp>
      <p:sp>
        <p:nvSpPr>
          <p:cNvPr id="33" name="Oval 32"/>
          <p:cNvSpPr/>
          <p:nvPr/>
        </p:nvSpPr>
        <p:spPr>
          <a:xfrm>
            <a:off x="6656832" y="5038344"/>
            <a:ext cx="137160" cy="137160"/>
          </a:xfrm>
          <a:prstGeom prst="ellipse">
            <a:avLst/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12864" y="4946904"/>
            <a:ext cx="1920240" cy="38404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400" b="1">
                <a:solidFill>
                  <a:srgbClr val="152733"/>
                </a:solidFill>
                <a:latin typeface="Inter"/>
              </a:defRPr>
            </a:pPr>
            <a:r>
              <a:t>TreeMap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14232" y="4946904"/>
            <a:ext cx="2825496" cy="36576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30" b="0">
                <a:solidFill>
                  <a:srgbClr val="60717A"/>
                </a:solidFill>
                <a:latin typeface="Inter"/>
              </a:defRPr>
            </a:pPr>
            <a:r>
              <a:t>Vencimientos por fecha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473952"/>
            <a:ext cx="10991088" cy="7315"/>
          </a:xfrm>
          <a:prstGeom prst="rect">
            <a:avLst/>
          </a:prstGeom>
          <a:solidFill>
            <a:srgbClr val="DCE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6528816"/>
            <a:ext cx="3931920" cy="17373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UDLA · PROGRAMACIÓN III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Integrante 3 · ≈55 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65408" y="6528816"/>
            <a:ext cx="310896" cy="1828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6949440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000" b="1">
                <a:solidFill>
                  <a:srgbClr val="18887F"/>
                </a:solidFill>
                <a:latin typeface="Inter"/>
              </a:defRPr>
            </a:pPr>
            <a:r>
              <a:t>REFUGIOMASCOTAS · PROGRESO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0292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2800" b="1">
                <a:solidFill>
                  <a:srgbClr val="152733"/>
                </a:solidFill>
                <a:latin typeface="Inter"/>
              </a:defRPr>
            </a:pPr>
            <a:r>
              <a:t>Comparación de complejidad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2918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280" b="0">
                <a:solidFill>
                  <a:srgbClr val="60717A"/>
                </a:solidFill>
                <a:latin typeface="Inter"/>
              </a:defRPr>
            </a:pPr>
            <a:r>
              <a:t>Análisis asintótico; aún no son mediciones sobre una aplicación implementada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65376"/>
            <a:ext cx="10954512" cy="566928"/>
          </a:xfrm>
          <a:prstGeom prst="roundRect">
            <a:avLst>
              <a:gd name="adj" fmla="val 12000"/>
            </a:avLst>
          </a:prstGeom>
          <a:solidFill>
            <a:srgbClr val="15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93392"/>
            <a:ext cx="3392424" cy="26517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OPERACIÓN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993392"/>
            <a:ext cx="3264408" cy="26517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A · LISTAS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8976" y="1993392"/>
            <a:ext cx="3611880" cy="26517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B · ESTRUCTURAS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523744"/>
            <a:ext cx="10954512" cy="6309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2651760"/>
            <a:ext cx="3255264" cy="33832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500" b="1">
                <a:solidFill>
                  <a:srgbClr val="152733"/>
                </a:solidFill>
                <a:latin typeface="Inter"/>
              </a:defRPr>
            </a:pPr>
            <a:r>
              <a:t>Buscar por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651760"/>
            <a:ext cx="3172968" cy="33832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500" b="1">
                <a:solidFill>
                  <a:srgbClr val="E39B74"/>
                </a:solidFill>
                <a:latin typeface="Inter"/>
              </a:defRPr>
            </a:pPr>
            <a:r>
              <a:t>O(n)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8975" y="2651760"/>
            <a:ext cx="3474720" cy="33832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500" b="1">
                <a:solidFill>
                  <a:srgbClr val="18887F"/>
                </a:solidFill>
                <a:latin typeface="Inter"/>
              </a:defRPr>
            </a:pPr>
            <a:r>
              <a:t>O(1) promedio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27832"/>
            <a:ext cx="10954512" cy="630936"/>
          </a:xfrm>
          <a:prstGeom prst="roundRect">
            <a:avLst>
              <a:gd name="adj" fmla="val 12000"/>
            </a:avLst>
          </a:prstGeom>
          <a:solidFill>
            <a:srgbClr val="ED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3355848"/>
            <a:ext cx="3255264" cy="33832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500" b="1">
                <a:solidFill>
                  <a:srgbClr val="152733"/>
                </a:solidFill>
                <a:latin typeface="Inter"/>
              </a:defRPr>
            </a:pPr>
            <a:r>
              <a:t>Siguiente candidato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355848"/>
            <a:ext cx="3172968" cy="33832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500" b="1">
                <a:solidFill>
                  <a:srgbClr val="E39B74"/>
                </a:solidFill>
                <a:latin typeface="Inter"/>
              </a:defRPr>
            </a:pPr>
            <a:r>
              <a:t>O(E + k log 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8975" y="3355848"/>
            <a:ext cx="3474720" cy="33832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500" b="1">
                <a:solidFill>
                  <a:srgbClr val="18887F"/>
                </a:solidFill>
                <a:latin typeface="Inter"/>
              </a:defRPr>
            </a:pPr>
            <a:r>
              <a:t>peek O(1) · poll O(log k)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931920"/>
            <a:ext cx="10954512" cy="6309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4059935"/>
            <a:ext cx="3255264" cy="33832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500" b="1">
                <a:solidFill>
                  <a:srgbClr val="152733"/>
                </a:solidFill>
                <a:latin typeface="Inter"/>
              </a:defRPr>
            </a:pPr>
            <a:r>
              <a:t>Controles vencidos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059935"/>
            <a:ext cx="3172968" cy="33832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500" b="1">
                <a:solidFill>
                  <a:srgbClr val="E39B74"/>
                </a:solidFill>
                <a:latin typeface="Inter"/>
              </a:defRPr>
            </a:pPr>
            <a:r>
              <a:t>O(S log 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08975" y="4059935"/>
            <a:ext cx="3474720" cy="33832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500" b="1">
                <a:solidFill>
                  <a:srgbClr val="18887F"/>
                </a:solidFill>
                <a:latin typeface="Inter"/>
              </a:defRPr>
            </a:pPr>
            <a:r>
              <a:t>O(log d + m)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636008"/>
            <a:ext cx="10954512" cy="630936"/>
          </a:xfrm>
          <a:prstGeom prst="roundRect">
            <a:avLst>
              <a:gd name="adj" fmla="val 12000"/>
            </a:avLst>
          </a:prstGeom>
          <a:solidFill>
            <a:srgbClr val="ED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764024"/>
            <a:ext cx="3255264" cy="33832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500" b="1">
                <a:solidFill>
                  <a:srgbClr val="152733"/>
                </a:solidFill>
                <a:latin typeface="Inter"/>
              </a:defRPr>
            </a:pPr>
            <a:r>
              <a:t>Siguiente caso clínico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764024"/>
            <a:ext cx="3172968" cy="33832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500" b="1">
                <a:solidFill>
                  <a:srgbClr val="E39B74"/>
                </a:solidFill>
                <a:latin typeface="Inter"/>
              </a:defRPr>
            </a:pPr>
            <a:r>
              <a:t>O(n + c log 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08975" y="4764024"/>
            <a:ext cx="3474720" cy="33832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500" b="1">
                <a:solidFill>
                  <a:srgbClr val="18887F"/>
                </a:solidFill>
                <a:latin typeface="Inter"/>
              </a:defRPr>
            </a:pPr>
            <a:r>
              <a:t>poll O(log c)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660136"/>
            <a:ext cx="10789920" cy="512064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" y="5605272"/>
            <a:ext cx="10789920" cy="512064"/>
          </a:xfrm>
          <a:prstGeom prst="roundRect">
            <a:avLst>
              <a:gd name="adj" fmla="val 12000"/>
            </a:avLst>
          </a:prstGeom>
          <a:solidFill>
            <a:srgbClr val="E7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5715000"/>
            <a:ext cx="10424160" cy="28346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200" b="1">
                <a:solidFill>
                  <a:srgbClr val="18887F"/>
                </a:solidFill>
                <a:latin typeface="Inter"/>
              </a:defRPr>
            </a:pPr>
            <a:r>
              <a:t>A consume menos estructuras adicionales; B exige más memoria y sincronización entre índices.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73952"/>
            <a:ext cx="10991088" cy="7315"/>
          </a:xfrm>
          <a:prstGeom prst="rect">
            <a:avLst/>
          </a:prstGeom>
          <a:solidFill>
            <a:srgbClr val="DCE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6528816"/>
            <a:ext cx="3931920" cy="17373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UDLA · PROGRAMACIÓN III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Integrante 4 · ≈50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65408" y="6528816"/>
            <a:ext cx="310896" cy="1828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6949440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000" b="1">
                <a:solidFill>
                  <a:srgbClr val="18887F"/>
                </a:solidFill>
                <a:latin typeface="Inter"/>
              </a:defRPr>
            </a:pPr>
            <a:r>
              <a:t>REFUGIOMASCOTAS · PROGRESO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0292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2800" b="1">
                <a:solidFill>
                  <a:srgbClr val="152733"/>
                </a:solidFill>
                <a:latin typeface="Inter"/>
              </a:defRPr>
            </a:pPr>
            <a:r>
              <a:t>Alternativa B: elección fundamentada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2918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280" b="0">
                <a:solidFill>
                  <a:srgbClr val="60717A"/>
                </a:solidFill>
                <a:latin typeface="Inter"/>
              </a:defRPr>
            </a:pPr>
            <a:r>
              <a:t>Matriz de decisión ponderada con seis criterios técnicos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2002536"/>
            <a:ext cx="7013448" cy="4069080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47672"/>
            <a:ext cx="7013448" cy="4069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94560"/>
            <a:ext cx="6309360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00" b="1">
                <a:solidFill>
                  <a:srgbClr val="18887F"/>
                </a:solidFill>
                <a:latin typeface="Inter"/>
              </a:defRPr>
            </a:pPr>
            <a:r>
              <a:t>CALIFICACIÓN PONDERADA · SOBRE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2926080"/>
            <a:ext cx="4535424" cy="35661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600" b="1">
                <a:solidFill>
                  <a:srgbClr val="152733"/>
                </a:solidFill>
                <a:latin typeface="Inter"/>
              </a:defRPr>
            </a:pPr>
            <a:r>
              <a:t>B · Índices y prioridad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898648"/>
            <a:ext cx="914400" cy="40233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0"/>
              </a:spcAft>
              <a:defRPr sz="2100" b="1">
                <a:solidFill>
                  <a:srgbClr val="18887F"/>
                </a:solidFill>
                <a:latin typeface="Inter"/>
              </a:defRPr>
            </a:pPr>
            <a:r>
              <a:t>4.45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" y="3483864"/>
            <a:ext cx="6281928" cy="237744"/>
          </a:xfrm>
          <a:prstGeom prst="roundRect">
            <a:avLst>
              <a:gd name="adj" fmla="val 12000"/>
            </a:avLst>
          </a:prstGeom>
          <a:solidFill>
            <a:srgbClr val="E7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" y="3483864"/>
            <a:ext cx="5590915" cy="237744"/>
          </a:xfrm>
          <a:prstGeom prst="roundRect">
            <a:avLst>
              <a:gd name="adj" fmla="val 12000"/>
            </a:avLst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4169664"/>
            <a:ext cx="4535424" cy="35661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600" b="1">
                <a:solidFill>
                  <a:srgbClr val="152733"/>
                </a:solidFill>
                <a:latin typeface="Inter"/>
              </a:defRPr>
            </a:pPr>
            <a:r>
              <a:t>A · Listas secuenciales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142232"/>
            <a:ext cx="914400" cy="40233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0"/>
              </a:spcAft>
              <a:defRPr sz="2100" b="1">
                <a:solidFill>
                  <a:srgbClr val="E39B74"/>
                </a:solidFill>
                <a:latin typeface="Inter"/>
              </a:defRPr>
            </a:pPr>
            <a:r>
              <a:t>3.00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" y="4727448"/>
            <a:ext cx="6281928" cy="237744"/>
          </a:xfrm>
          <a:prstGeom prst="roundRect">
            <a:avLst>
              <a:gd name="adj" fmla="val 12000"/>
            </a:avLst>
          </a:prstGeom>
          <a:solidFill>
            <a:srgbClr val="E7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" y="4727448"/>
            <a:ext cx="3769156" cy="237744"/>
          </a:xfrm>
          <a:prstGeom prst="roundRect">
            <a:avLst>
              <a:gd name="adj" fmla="val 12000"/>
            </a:avLst>
          </a:prstGeom>
          <a:solidFill>
            <a:srgbClr val="E39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36992" y="2002536"/>
            <a:ext cx="3666744" cy="4069080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91272" y="1947672"/>
            <a:ext cx="3666744" cy="4069080"/>
          </a:xfrm>
          <a:prstGeom prst="roundRect">
            <a:avLst>
              <a:gd name="adj" fmla="val 12000"/>
            </a:avLst>
          </a:prstGeom>
          <a:solidFill>
            <a:srgbClr val="E7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2194560"/>
            <a:ext cx="3017520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00" b="1">
                <a:solidFill>
                  <a:srgbClr val="18887F"/>
                </a:solidFill>
                <a:latin typeface="Inter"/>
              </a:defRPr>
            </a:pPr>
            <a:r>
              <a:t>POR QUÉ GANA B</a:t>
            </a:r>
          </a:p>
        </p:txBody>
      </p:sp>
      <p:sp>
        <p:nvSpPr>
          <p:cNvPr id="20" name="Oval 19"/>
          <p:cNvSpPr/>
          <p:nvPr/>
        </p:nvSpPr>
        <p:spPr>
          <a:xfrm>
            <a:off x="8193024" y="2816352"/>
            <a:ext cx="164592" cy="164592"/>
          </a:xfrm>
          <a:prstGeom prst="ellipse">
            <a:avLst/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2715768"/>
            <a:ext cx="2788920" cy="4480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230" b="1">
                <a:solidFill>
                  <a:srgbClr val="152733"/>
                </a:solidFill>
                <a:latin typeface="Inter"/>
              </a:defRPr>
            </a:pPr>
            <a:r>
              <a:t>Consulta rápida por clave</a:t>
            </a:r>
          </a:p>
        </p:txBody>
      </p:sp>
      <p:sp>
        <p:nvSpPr>
          <p:cNvPr id="22" name="Oval 21"/>
          <p:cNvSpPr/>
          <p:nvPr/>
        </p:nvSpPr>
        <p:spPr>
          <a:xfrm>
            <a:off x="8193024" y="3429000"/>
            <a:ext cx="164592" cy="164592"/>
          </a:xfrm>
          <a:prstGeom prst="ellipse">
            <a:avLst/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5632" y="3328416"/>
            <a:ext cx="2788920" cy="4480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230" b="0">
                <a:solidFill>
                  <a:srgbClr val="152733"/>
                </a:solidFill>
                <a:latin typeface="Inter"/>
              </a:defRPr>
            </a:pPr>
            <a:r>
              <a:t>Candidatos ordenados por prioridad</a:t>
            </a:r>
          </a:p>
        </p:txBody>
      </p:sp>
      <p:sp>
        <p:nvSpPr>
          <p:cNvPr id="24" name="Oval 23"/>
          <p:cNvSpPr/>
          <p:nvPr/>
        </p:nvSpPr>
        <p:spPr>
          <a:xfrm>
            <a:off x="8193024" y="4041648"/>
            <a:ext cx="164592" cy="164592"/>
          </a:xfrm>
          <a:prstGeom prst="ellipse">
            <a:avLst/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85632" y="3941064"/>
            <a:ext cx="2788920" cy="4480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230" b="0">
                <a:solidFill>
                  <a:srgbClr val="152733"/>
                </a:solidFill>
                <a:latin typeface="Inter"/>
              </a:defRPr>
            </a:pPr>
            <a:r>
              <a:t>Agenda consultable por fechas</a:t>
            </a:r>
          </a:p>
        </p:txBody>
      </p:sp>
      <p:sp>
        <p:nvSpPr>
          <p:cNvPr id="26" name="Oval 25"/>
          <p:cNvSpPr/>
          <p:nvPr/>
        </p:nvSpPr>
        <p:spPr>
          <a:xfrm>
            <a:off x="8193024" y="4654296"/>
            <a:ext cx="164592" cy="164592"/>
          </a:xfrm>
          <a:prstGeom prst="ellipse">
            <a:avLst/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85632" y="4553712"/>
            <a:ext cx="2788920" cy="4480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230" b="0">
                <a:solidFill>
                  <a:srgbClr val="152733"/>
                </a:solidFill>
                <a:latin typeface="Inter"/>
              </a:defRPr>
            </a:pPr>
            <a:r>
              <a:t>Servicios separables y mantenibles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181344"/>
            <a:ext cx="10808208" cy="25603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919" b="0">
                <a:solidFill>
                  <a:srgbClr val="60717A"/>
                </a:solidFill>
                <a:latin typeface="Inter"/>
              </a:defRPr>
            </a:pPr>
            <a:r>
              <a:t>Pesos: adecuación 25 % · tiempo 25 % · memoria 10 % · escalabilidad 15 % · mantenibilidad 15 % · implementación 10 %.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73952"/>
            <a:ext cx="10991088" cy="7315"/>
          </a:xfrm>
          <a:prstGeom prst="rect">
            <a:avLst/>
          </a:prstGeom>
          <a:solidFill>
            <a:srgbClr val="DCE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6528816"/>
            <a:ext cx="3931920" cy="17373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UDLA · PROGRAMACIÓN III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Integrante 4 · ≈45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65408" y="6528816"/>
            <a:ext cx="310896" cy="1828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6949440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000" b="1">
                <a:solidFill>
                  <a:srgbClr val="18887F"/>
                </a:solidFill>
                <a:latin typeface="Inter"/>
              </a:defRPr>
            </a:pPr>
            <a:r>
              <a:t>REFUGIOMASCOTAS · PROGRESO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0292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2800" b="1">
                <a:solidFill>
                  <a:srgbClr val="152733"/>
                </a:solidFill>
                <a:latin typeface="Inter"/>
              </a:defRPr>
            </a:pPr>
            <a:r>
              <a:t>Plan de implementación para el Progreso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972800" cy="32918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280" b="0">
                <a:solidFill>
                  <a:srgbClr val="60717A"/>
                </a:solidFill>
                <a:latin typeface="Inter"/>
              </a:defRPr>
            </a:pPr>
            <a:r>
              <a:t>Reparto equilibrado de tareas y pruebas de integración entre módulos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938528"/>
            <a:ext cx="5385816" cy="1371600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883664"/>
            <a:ext cx="5385816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3815" y="2130552"/>
            <a:ext cx="658368" cy="658368"/>
          </a:xfrm>
          <a:prstGeom prst="ellipse">
            <a:avLst/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3" y="2267712"/>
            <a:ext cx="621792" cy="31089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00200" y="2066544"/>
            <a:ext cx="1234440" cy="320040"/>
          </a:xfrm>
          <a:prstGeom prst="roundRect">
            <a:avLst>
              <a:gd name="adj" fmla="val 12000"/>
            </a:avLst>
          </a:prstGeom>
          <a:solidFill>
            <a:srgbClr val="E7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73352" y="2107692"/>
            <a:ext cx="1088136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100" b="1">
                <a:solidFill>
                  <a:srgbClr val="18887F"/>
                </a:solidFill>
                <a:latin typeface="Inter"/>
              </a:defRPr>
            </a:pPr>
            <a:r>
              <a:t>M1 + M6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9344" y="2441448"/>
            <a:ext cx="4215384" cy="32918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440" b="1">
                <a:solidFill>
                  <a:srgbClr val="152733"/>
                </a:solidFill>
                <a:latin typeface="Inter"/>
              </a:defRPr>
            </a:pPr>
            <a:r>
              <a:t>Usuarios y reportes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9344" y="2798064"/>
            <a:ext cx="4251960" cy="29260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40" b="0">
                <a:solidFill>
                  <a:srgbClr val="60717A"/>
                </a:solidFill>
                <a:latin typeface="Inter"/>
              </a:defRPr>
            </a:pPr>
            <a:r>
              <a:t>HashMap · indicadores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938528"/>
            <a:ext cx="5385816" cy="1371600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81928" y="1883664"/>
            <a:ext cx="5385816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2130552"/>
            <a:ext cx="658368" cy="658368"/>
          </a:xfrm>
          <a:prstGeom prst="ellipse">
            <a:avLst/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2267712"/>
            <a:ext cx="621792" cy="31089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32904" y="2066544"/>
            <a:ext cx="1234440" cy="320040"/>
          </a:xfrm>
          <a:prstGeom prst="roundRect">
            <a:avLst>
              <a:gd name="adj" fmla="val 12000"/>
            </a:avLst>
          </a:prstGeom>
          <a:solidFill>
            <a:srgbClr val="E7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06056" y="2107692"/>
            <a:ext cx="1088136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100" b="1">
                <a:solidFill>
                  <a:srgbClr val="18887F"/>
                </a:solidFill>
                <a:latin typeface="Inter"/>
              </a:defRPr>
            </a:pPr>
            <a:r>
              <a:t>M2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2441448"/>
            <a:ext cx="4215384" cy="32918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440" b="1">
                <a:solidFill>
                  <a:srgbClr val="152733"/>
                </a:solidFill>
                <a:latin typeface="Inter"/>
              </a:defRPr>
            </a:pPr>
            <a:r>
              <a:t>Fichas clínico-conductuales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2798064"/>
            <a:ext cx="4251960" cy="29260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40" b="0">
                <a:solidFill>
                  <a:srgbClr val="60717A"/>
                </a:solidFill>
                <a:latin typeface="Inter"/>
              </a:defRPr>
            </a:pPr>
            <a:r>
              <a:t>Controles · cola clínica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" y="3511296"/>
            <a:ext cx="5385816" cy="1371600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224" y="3456432"/>
            <a:ext cx="5385816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3815" y="3703320"/>
            <a:ext cx="658368" cy="658368"/>
          </a:xfrm>
          <a:prstGeom prst="ellipse">
            <a:avLst/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3" y="3840480"/>
            <a:ext cx="621792" cy="31089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00200" y="3639312"/>
            <a:ext cx="1234440" cy="320040"/>
          </a:xfrm>
          <a:prstGeom prst="roundRect">
            <a:avLst>
              <a:gd name="adj" fmla="val 12000"/>
            </a:avLst>
          </a:prstGeom>
          <a:solidFill>
            <a:srgbClr val="E7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73352" y="3680460"/>
            <a:ext cx="1088136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100" b="1">
                <a:solidFill>
                  <a:srgbClr val="18887F"/>
                </a:solidFill>
                <a:latin typeface="Inter"/>
              </a:defRPr>
            </a:pPr>
            <a:r>
              <a:t>M3 + M5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9344" y="4014216"/>
            <a:ext cx="4215384" cy="32918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440" b="1">
                <a:solidFill>
                  <a:srgbClr val="152733"/>
                </a:solidFill>
                <a:latin typeface="Inter"/>
              </a:defRPr>
            </a:pPr>
            <a:r>
              <a:t>Solicitudes y seguimientos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9344" y="4370832"/>
            <a:ext cx="4251960" cy="29260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40" b="0">
                <a:solidFill>
                  <a:srgbClr val="60717A"/>
                </a:solidFill>
                <a:latin typeface="Inter"/>
              </a:defRPr>
            </a:pPr>
            <a:r>
              <a:t>Búsqueda · TreeMap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27648" y="3511296"/>
            <a:ext cx="5385816" cy="1371600"/>
          </a:xfrm>
          <a:prstGeom prst="roundRect">
            <a:avLst>
              <a:gd name="adj" fmla="val 12000"/>
            </a:avLst>
          </a:prstGeom>
          <a:solidFill>
            <a:srgbClr val="DD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81928" y="3456432"/>
            <a:ext cx="5385816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46520" y="3703320"/>
            <a:ext cx="658368" cy="658368"/>
          </a:xfrm>
          <a:prstGeom prst="ellipse">
            <a:avLst/>
          </a:prstGeom>
          <a:solidFill>
            <a:srgbClr val="18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8" y="3840480"/>
            <a:ext cx="621792" cy="31089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32904" y="3639312"/>
            <a:ext cx="1234440" cy="320040"/>
          </a:xfrm>
          <a:prstGeom prst="roundRect">
            <a:avLst>
              <a:gd name="adj" fmla="val 12000"/>
            </a:avLst>
          </a:prstGeom>
          <a:solidFill>
            <a:srgbClr val="E7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06056" y="3680460"/>
            <a:ext cx="1088136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100" b="1">
                <a:solidFill>
                  <a:srgbClr val="18887F"/>
                </a:solidFill>
                <a:latin typeface="Inter"/>
              </a:defRPr>
            </a:pPr>
            <a:r>
              <a:t>M4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42048" y="4014216"/>
            <a:ext cx="4215384" cy="32918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440" b="1">
                <a:solidFill>
                  <a:srgbClr val="152733"/>
                </a:solidFill>
                <a:latin typeface="Inter"/>
              </a:defRPr>
            </a:pPr>
            <a:r>
              <a:t>Compatibilidad y asignación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42048" y="4370832"/>
            <a:ext cx="4251960" cy="29260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40" b="0">
                <a:solidFill>
                  <a:srgbClr val="60717A"/>
                </a:solidFill>
                <a:latin typeface="Inter"/>
              </a:defRPr>
            </a:pPr>
            <a:r>
              <a:t>Comparator · PriorityQueue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6656" y="5257800"/>
            <a:ext cx="10817352" cy="704088"/>
          </a:xfrm>
          <a:prstGeom prst="roundRect">
            <a:avLst>
              <a:gd name="adj" fmla="val 12000"/>
            </a:avLst>
          </a:prstGeom>
          <a:solidFill>
            <a:srgbClr val="E7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5413248"/>
            <a:ext cx="10451592" cy="35661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250" b="1">
                <a:solidFill>
                  <a:srgbClr val="18887F"/>
                </a:solidFill>
                <a:latin typeface="Inter"/>
              </a:defRPr>
            </a:pPr>
            <a:r>
              <a:t>Riesgos a controlar: desincronización de índices · empates · adopciones duplicadas · pérdida de datos.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6473952"/>
            <a:ext cx="10991088" cy="7315"/>
          </a:xfrm>
          <a:prstGeom prst="rect">
            <a:avLst/>
          </a:prstGeom>
          <a:solidFill>
            <a:srgbClr val="DCE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6528816"/>
            <a:ext cx="3931920" cy="17373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UDLA · PROGRAMACIÓN III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60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Integrante 4 · ≈45 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65408" y="6528816"/>
            <a:ext cx="310896" cy="1828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0"/>
              </a:spcAft>
              <a:defRPr sz="900" b="0">
                <a:solidFill>
                  <a:srgbClr val="60717A"/>
                </a:solidFill>
                <a:latin typeface="Inter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5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ienestar_57_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0"/>
            <a:ext cx="52578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15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722376"/>
            <a:ext cx="5715000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100" b="1">
                <a:solidFill>
                  <a:srgbClr val="95E3D9"/>
                </a:solidFill>
                <a:latin typeface="Inter"/>
              </a:defRPr>
            </a:pPr>
            <a:r>
              <a:t>CONCLUSIÓN · PROGRESO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90472"/>
            <a:ext cx="6071616" cy="245059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Inter"/>
              </a:defRPr>
            </a:pPr>
            <a:r>
              <a:t>Adopciones con</a:t>
            </a:r>
          </a:p>
          <a:p>
            <a:pPr>
              <a:lnSpc>
                <a:spcPct val="10700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Inter"/>
              </a:defRPr>
            </a:pPr>
            <a:r>
              <a:t>más información,</a:t>
            </a:r>
          </a:p>
          <a:p>
            <a:pPr>
              <a:lnSpc>
                <a:spcPct val="10700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Inter"/>
              </a:defRPr>
            </a:pPr>
            <a:r>
              <a:t>menos improvisación.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4270248"/>
            <a:ext cx="5468112" cy="114300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 sz="1800" b="0">
                <a:solidFill>
                  <a:srgbClr val="D7E6E5"/>
                </a:solidFill>
                <a:latin typeface="Inter"/>
              </a:defRPr>
            </a:pPr>
            <a:r>
              <a:t>Una solución de apoyo que integra fichas, compatibilidad, prioridades y seguimiento sin sustituir el criterio profesional.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815584"/>
            <a:ext cx="4251960" cy="320040"/>
          </a:xfrm>
          <a:prstGeom prst="roundRect">
            <a:avLst>
              <a:gd name="adj" fmla="val 12000"/>
            </a:avLst>
          </a:prstGeom>
          <a:solidFill>
            <a:srgbClr val="2D5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5856732"/>
            <a:ext cx="4105656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  <a:defRPr sz="1050" b="1">
                <a:solidFill>
                  <a:srgbClr val="FFFFFF"/>
                </a:solidFill>
                <a:latin typeface="Inter"/>
              </a:defRPr>
            </a:pPr>
            <a:r>
              <a:t>SIGUIENTE FASE → IMPLEMENTACIÓN EN JAVA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